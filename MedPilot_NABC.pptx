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85"/>
    <p:restoredTop sz="94610"/>
  </p:normalViewPr>
  <p:slideViewPr>
    <p:cSldViewPr snapToGrid="0" snapToObjects="1">
      <p:cViewPr varScale="1">
        <p:scale>
          <a:sx n="167" d="100"/>
          <a:sy n="167" d="100"/>
        </p:scale>
        <p:origin x="168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6633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1097280" cy="3017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  ·  NEED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Clinical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 Problem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818CF8"/>
                </a:solidFill>
              </a:rPr>
              <a:t>OpenMRS powers healthcare for millions - but clinicians are</a:t>
            </a:r>
            <a:endParaRPr lang="en-US" sz="1250" dirty="0"/>
          </a:p>
          <a:p>
            <a:pPr marL="0" indent="0" algn="l">
              <a:buNone/>
            </a:pPr>
            <a:r>
              <a:rPr lang="en-US" sz="1250" i="1" dirty="0">
                <a:solidFill>
                  <a:srgbClr val="818CF8"/>
                </a:solidFill>
              </a:rPr>
              <a:t>still clicking through 5-7 screens for every routine task.  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760720" y="256032"/>
            <a:ext cx="292608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760720" y="310896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760720" y="89611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18CF8"/>
                </a:solidFill>
              </a:rPr>
              <a:t>Countries using OpenMRS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60720" y="1481328"/>
            <a:ext cx="292608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60720" y="1536192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5,000+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760720" y="212140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18CF8"/>
                </a:solidFill>
              </a:rPr>
              <a:t>Health facilities globally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60720" y="2706624"/>
            <a:ext cx="292608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60720" y="276148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30–40%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760720" y="334670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18CF8"/>
                </a:solidFill>
              </a:rPr>
              <a:t>Clinician time on data entry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Every chart action requires navigating multiple module screens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Missing an allergy or a wrong dose has direct patient safety consequences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No conversational interface exists - all interactions are form-driven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18CF8"/>
                </a:solidFill>
              </a:rPr>
              <a:t>MedPilot  ·  AI Clinical Copilot for OpenMRS  ·  ScarletHacks 2026</a:t>
            </a:r>
            <a:endParaRPr lang="en-US" sz="1100" dirty="0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C5377602-79CE-79B2-D0B0-58DCB5936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95" y="4617720"/>
            <a:ext cx="4645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Doctors shouldn’t have to fight the EHR to care for patients.</a:t>
            </a:r>
            <a:endParaRPr kumimoji="0" lang="en-US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-apple-system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256032"/>
            <a:ext cx="1554480" cy="3017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25603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  ·  APPROACH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73152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MedPilot: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Conversational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EHR Copilot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2688336"/>
            <a:ext cx="246888" cy="24688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26883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265176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Natural Language Input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2044" y="2935224"/>
            <a:ext cx="0" cy="128016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3099816"/>
            <a:ext cx="246888" cy="24688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8600" y="30998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" y="306324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Intent Classifier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2044" y="3346704"/>
            <a:ext cx="0" cy="128016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28600" y="3511296"/>
            <a:ext cx="246888" cy="24688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8600" y="351129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" y="347472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LLM Intent + Entity Extraction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52044" y="3758184"/>
            <a:ext cx="0" cy="128016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28600" y="3922776"/>
            <a:ext cx="246888" cy="24688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28600" y="392277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38862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OpenMRS REST / FHIR2 API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52044" y="4169664"/>
            <a:ext cx="0" cy="128016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28600" y="4334256"/>
            <a:ext cx="246888" cy="24688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28600" y="433425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6928" y="429768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Confirmation Gate → Execute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749040" y="274320"/>
            <a:ext cx="24505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749040" y="274320"/>
            <a:ext cx="54864" cy="13898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88620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886200" y="84124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Single Chat Window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86200" y="1152144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Replaces multi-screen navigation entirely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73368" y="274320"/>
            <a:ext cx="24505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373368" y="274320"/>
            <a:ext cx="54864" cy="13898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10528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510528" y="84124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Confirmation-Gated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10528" y="1152144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Every write previewed before submission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749040" y="1810512"/>
            <a:ext cx="24505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749040" y="1810512"/>
            <a:ext cx="54864" cy="13898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886200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3886200" y="237744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LLM Reasoning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886200" y="2688336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OpenAI, Anthropic, or local Ollama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373368" y="1810512"/>
            <a:ext cx="24505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373368" y="1810512"/>
            <a:ext cx="54864" cy="13898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510528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510528" y="237744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Full Chart Access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10528" y="2688336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Vitals, meds, conditions, allergies &amp; more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749040" y="3346704"/>
            <a:ext cx="24505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749040" y="3346704"/>
            <a:ext cx="54864" cy="13898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886200" y="3438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3886200" y="3913632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Fallback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886200" y="4224528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Classifier when no LLM configured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373368" y="3346704"/>
            <a:ext cx="24505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373368" y="3346704"/>
            <a:ext cx="54864" cy="13898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510528" y="3438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🎤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6510528" y="3913632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Voice Dictation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510528" y="4224528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Hands-free clinical data entry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3657600" y="486460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MedPilot  ·  ScarletHacks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82880"/>
            <a:ext cx="1234440" cy="3017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  ·  BENEFIT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for Clinicians &amp; Patients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633472" cy="153619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54864" cy="15361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150876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0352" y="1984248"/>
            <a:ext cx="23408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Faster Charting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2295144"/>
            <a:ext cx="2340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Search, vitals, meds, conditions - one interface, no module-switching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417320"/>
            <a:ext cx="2633472" cy="153619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54864" cy="15361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64992" y="150876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64992" y="1984248"/>
            <a:ext cx="23408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Fewer Errors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64992" y="2295144"/>
            <a:ext cx="2340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CIEL concept validation + explicit confirmation before every write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1417320"/>
            <a:ext cx="2633472" cy="153619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35040" y="1417320"/>
            <a:ext cx="54864" cy="15361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99632" y="150876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99632" y="1984248"/>
            <a:ext cx="23408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Zero Training Curve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99632" y="2295144"/>
            <a:ext cx="2340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Natural language input - no EHR training needed for daily tasks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136392"/>
            <a:ext cx="2633472" cy="153619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3136392"/>
            <a:ext cx="54864" cy="15361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0352" y="3227832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0352" y="3703320"/>
            <a:ext cx="23408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Global Reach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" y="4014216"/>
            <a:ext cx="2340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Works on any OpenMRS installation with the CIEL dictionary loaded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0" y="3136392"/>
            <a:ext cx="2633472" cy="153619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00400" y="3136392"/>
            <a:ext cx="54864" cy="15361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64992" y="3227832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364992" y="3703320"/>
            <a:ext cx="23408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Full Audit Trail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64992" y="4014216"/>
            <a:ext cx="2340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Every action logged with user, timestamp, and exact payload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35040" y="3136392"/>
            <a:ext cx="2633472" cy="153619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035040" y="3136392"/>
            <a:ext cx="54864" cy="15361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99632" y="3227832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199632" y="3703320"/>
            <a:ext cx="23408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LLM-Agnostic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99632" y="4014216"/>
            <a:ext cx="2340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Swap between OpenAI, Anthropic, or local Ollama without code changes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0" y="4892040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MedPilot  ·  ScarletHacks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1737360" cy="3017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  ·  COMPETITION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MedPilot Wins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657600" cy="329184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FFFFFF"/>
                </a:solidFill>
              </a:rPr>
              <a:t>COMPETITORS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3657600" cy="60350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847088"/>
            <a:ext cx="320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7171"/>
                </a:solidFill>
              </a:rPr>
              <a:t>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9536" y="1883664"/>
            <a:ext cx="31821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OpenMRS Native UI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59536" y="2139696"/>
            <a:ext cx="3182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18CF8"/>
                </a:solidFill>
              </a:rPr>
              <a:t>Form-driven, no NLP, requires staff training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3657600" cy="60350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542032"/>
            <a:ext cx="320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7171"/>
                </a:solidFill>
              </a:rPr>
              <a:t>✗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9536" y="2578608"/>
            <a:ext cx="31821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Epic / Cerner Voice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59536" y="2834640"/>
            <a:ext cx="3182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18CF8"/>
                </a:solidFill>
              </a:rPr>
              <a:t>Proprietary, US-only, incompatible with OpenMRS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236976"/>
            <a:ext cx="3657600" cy="60350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236976"/>
            <a:ext cx="320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7171"/>
                </a:solidFill>
              </a:rPr>
              <a:t>✗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9536" y="3273552"/>
            <a:ext cx="31821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ChatGPT / General AI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59536" y="3529584"/>
            <a:ext cx="3182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18CF8"/>
                </a:solidFill>
              </a:rPr>
              <a:t>No EHR integration, no audit trail, no confirmation gates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3657600" cy="60350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3931920"/>
            <a:ext cx="320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7171"/>
                </a:solidFill>
              </a:rPr>
              <a:t>✗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9536" y="3968496"/>
            <a:ext cx="31821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Nuance DAX / HealthGorilla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59536" y="4224528"/>
            <a:ext cx="3182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18CF8"/>
                </a:solidFill>
              </a:rPr>
              <a:t>Cloud-only, expensive, closed-source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992341"/>
            <a:ext cx="4023360" cy="32918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90288" y="98755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FFFFFF"/>
                </a:solidFill>
              </a:rPr>
              <a:t>MEDPILOT ADVANTAGES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17720" y="1397823"/>
            <a:ext cx="4023360" cy="548640"/>
          </a:xfrm>
          <a:prstGeom prst="rect">
            <a:avLst/>
          </a:prstGeom>
          <a:solidFill>
            <a:srgbClr val="4F46E5">
              <a:alpha val="16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63440" y="1435608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25212" y="1380744"/>
            <a:ext cx="3547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Open-source and </a:t>
            </a:r>
            <a:r>
              <a:rPr lang="en-US" sz="1050" dirty="0" err="1">
                <a:solidFill>
                  <a:srgbClr val="FFFFFF"/>
                </a:solidFill>
              </a:rPr>
              <a:t>OpenMRS</a:t>
            </a:r>
            <a:r>
              <a:rPr lang="en-US" sz="1050" dirty="0">
                <a:solidFill>
                  <a:srgbClr val="FFFFFF"/>
                </a:solidFill>
              </a:rPr>
              <a:t>-native - no licensing cost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17720" y="2040189"/>
            <a:ext cx="4023360" cy="548640"/>
          </a:xfrm>
          <a:prstGeom prst="rect">
            <a:avLst/>
          </a:prstGeom>
          <a:solidFill>
            <a:srgbClr val="4F46E5">
              <a:alpha val="16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70240" y="2019615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0" y="2019615"/>
            <a:ext cx="3547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Confirmation gates + audit log  safe for clinical deployment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17720" y="2754630"/>
            <a:ext cx="4023360" cy="548640"/>
          </a:xfrm>
          <a:prstGeom prst="rect">
            <a:avLst/>
          </a:prstGeom>
          <a:solidFill>
            <a:srgbClr val="4F46E5">
              <a:alpha val="16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670240" y="2788221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25950" y="2754630"/>
            <a:ext cx="3547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Local LLM support (Ollama) - zero cloud dependency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07480" y="3399282"/>
            <a:ext cx="4023360" cy="548640"/>
          </a:xfrm>
          <a:prstGeom prst="rect">
            <a:avLst/>
          </a:prstGeom>
          <a:solidFill>
            <a:srgbClr val="4F46E5">
              <a:alpha val="16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46946" y="3443509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990280" y="3439977"/>
            <a:ext cx="3547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Modular architecture: swap LLM without touching clinical logic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17720" y="4063299"/>
            <a:ext cx="4023360" cy="548640"/>
          </a:xfrm>
          <a:prstGeom prst="rect">
            <a:avLst/>
          </a:prstGeom>
          <a:solidFill>
            <a:srgbClr val="4F46E5">
              <a:alpha val="16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663440" y="4078224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</a:rPr>
              <a:t>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006454" y="4059767"/>
            <a:ext cx="3547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Built for low-resource, high-impact global health settings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720" y="5087295"/>
            <a:ext cx="9144000" cy="4800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73187" y="4727316"/>
            <a:ext cx="894751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18CF8"/>
                </a:solidFill>
              </a:rPr>
              <a:t>MedPilot  ·  AI Clinical Copilot for OpenMRS  ·  ScarletHacks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401</Words>
  <Application>Microsoft Macintosh PowerPoint</Application>
  <PresentationFormat>On-screen Show (16:9)</PresentationFormat>
  <Paragraphs>102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-apple-system</vt:lpstr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MedPilot NABC Pitch</dc:title>
  <dc:subject>PptxGenJS Presentation</dc:subject>
  <dc:creator>MedPilot Team</dc:creator>
  <cp:lastModifiedBy>Atishay Jain</cp:lastModifiedBy>
  <cp:revision>3</cp:revision>
  <dcterms:created xsi:type="dcterms:W3CDTF">2026-04-05T16:37:32Z</dcterms:created>
  <dcterms:modified xsi:type="dcterms:W3CDTF">2026-04-05T17:38:21Z</dcterms:modified>
</cp:coreProperties>
</file>